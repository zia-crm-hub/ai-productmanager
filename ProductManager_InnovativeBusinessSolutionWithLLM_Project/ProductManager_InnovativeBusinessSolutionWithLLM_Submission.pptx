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12E4E"/>
                </a:solidFill>
                <a:latin typeface="Calibri"/>
              </a:defRPr>
            </a:pPr>
            <a:r>
              <a:t>Innovative Business Solution With 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10241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1F2937"/>
                </a:solidFill>
                <a:latin typeface="Calibri"/>
              </a:defRPr>
            </a:pPr>
            <a:r>
              <a:t>Privacy-First In-Car AI Assistant for Next-Generation Vehicles</a:t>
            </a:r>
            <a:br/>
            <a:r>
              <a:t>Scenario A: In-Car AI Assistant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2316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Submission package aligned to plan, operations, and slide outline files.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Objective: deliver safe, natural, and trusted in-car AI assistance.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Executive narrative: modernize UX without compromising safety or privacy.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Product Definition: Problem and Current Workarounds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Problem: existing in-car voice interactions are rigid and outdated.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Current workarounds: legacy voice service, touchscreen taps, mobile assistants.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Pain points: weak natural language handling and poor follow-up context.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Pain points: higher cognitive load and inconsistent in-drive performance.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Pain points: rising customer concern around connected-car privacy practices.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The status quo is fragmented, frustrating, and trust-sensitive.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Business Problem and Customer Need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Need modern, context-aware, personalized conversational experiences.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Need fast and natural support for navigation, messaging, and media tasks.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Need useful personalization that respects privacy expectations.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Need reliable behavior under variable connectivity.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Need safety-first interactions that minimize distraction.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Customer value depends on usefulness, safety, and reliability together.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Market Landscape and Competitive Pressure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AI assistants are becoming premium differentiators in new vehicles.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Target segment (25-45 metro/suburban) expects high-quality dialogue UX.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Negative press on data misuse has elevated trust and privacy scrutiny.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Strategic implication: must win on experience and privacy posture simultaneously.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Competitive advantage requires both conversational quality and credible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Data-Driven Opportunity Framing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98% messaging usage -&gt; strong fit for hands-free compose/summarize.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65% music streaming usage -&gt; strong demand for conversational media control.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50% already using conversational AI -&gt; low onboarding friction.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Average 15 trips/week -&gt; frequent interaction and habit-formation opportunities.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Behavioral signals indicate high adoption potential for in-car AI copilot flows.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06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Solution and Value Proposition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TastyDrive Assistant: privacy-first, safety-gated in-car AI copilot.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Hybrid edge safety logic + cloud LLM intelligence for natural conversations.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Driving-mode constraints and consent-based personalization by design.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Customer value: fewer taps, lower cognitive load, better guidance.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Business value: stronger differentiation, engagement, and loyalty.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The solution improves both customer utility and brand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07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Why LLM Is the Best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Supports diverse natural-language requests across key in-car tasks.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Handles multi-turn context and follow-up clarifications naturally.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Enables personalization from approved context signals.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Adapts faster than rule trees for long-tail phrasing variation.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LLM + policy + retrieval balances flexibility and controllability.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LLM capability is necessary to meet modern in-car UX expectations.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08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LLM vs Alternatives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Rule-based assistant: predictable for narrow commands, but rigid at scale.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Traditional NLU intent/slot: lower cost for simple flows, weak on open queries.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LLM-centric hybrid: best conversational quality and long-tail coverage.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Tradeoff: LLM approach requires robust safety, privacy, and cost controls.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Hybrid LLM architecture offers best experience with manageable governance overhead.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09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System Architecture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Hybrid edge+cloud pattern with safety and privacy guardrails.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On-device: safety gate, intent pre-classification, redaction, fallback intents.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Cloud: orchestration, private LLM endpoint, RAG retrieval grounding.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Policy checks before and after model inference.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Graceful degradation during network interruptions.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Edge handles resilience and safety; cloud provides rich intelligence.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10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System Attributes and Goals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Primary goal: safe, natural, useful assistance without higher distraction risk.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Secondary goal: privacy-by-design with transparent consent controls.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Secondary goal: service continuity via edge fallback modes.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Architecture detail source: SYSTEM_ARCHITECTURE.md.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System goals explicitly balance UX performance and governance requirements.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11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Scalability, Security, and Efficiency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Scalability: regional autoscaling and routing, plus edge caching.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Quality ops: event-driven telemetry pipeline for continuous monitoring.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Security/privacy: minimization, consent controls, redaction, encryption, audited access.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Efficiency: model routing by intent complexity and retrieval constraints.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Efficiency: token/cost budgets per session.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Operational design supports scale, trust, and performance-cost discipline.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12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Deployment Option and Runtime by 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450">
                <a:solidFill>
                  <a:srgbClr val="1F2937"/>
                </a:solidFill>
                <a:latin typeface="Calibri"/>
              </a:defRPr>
            </a:pPr>
            <a:r>
              <a:t>Recommended deployment: hybrid (edge runtime + private cloud LLM endpoint).</a:t>
            </a:r>
          </a:p>
          <a:p>
            <a:pPr>
              <a:spcAft>
                <a:spcPts val="500"/>
              </a:spcAft>
              <a:defRPr sz="1450">
                <a:solidFill>
                  <a:srgbClr val="1F2937"/>
                </a:solidFill>
                <a:latin typeface="Calibri"/>
              </a:defRPr>
            </a:pPr>
            <a:r>
              <a:t>Why hybrid: offline resilience, low-latency safety gating, centralized governance.</a:t>
            </a:r>
          </a:p>
          <a:p>
            <a:pPr>
              <a:spcAft>
                <a:spcPts val="500"/>
              </a:spcAft>
              <a:defRPr sz="1450">
                <a:solidFill>
                  <a:srgbClr val="1F2937"/>
                </a:solidFill>
                <a:latin typeface="Calibri"/>
              </a:defRPr>
            </a:pPr>
            <a:r>
              <a:t>Alternative pure cloud: simpler architecture but weaker offline resilience.</a:t>
            </a:r>
          </a:p>
          <a:p>
            <a:pPr>
              <a:spcAft>
                <a:spcPts val="500"/>
              </a:spcAft>
              <a:defRPr sz="1450">
                <a:solidFill>
                  <a:srgbClr val="1F2937"/>
                </a:solidFill>
                <a:latin typeface="Calibri"/>
              </a:defRPr>
            </a:pPr>
            <a:r>
              <a:t>Alternative pure edge: stronger privacy posture but weaker model quality/update speed.</a:t>
            </a:r>
          </a:p>
          <a:p>
            <a:pPr>
              <a:spcAft>
                <a:spcPts val="500"/>
              </a:spcAft>
              <a:defRPr sz="1450">
                <a:solidFill>
                  <a:srgbClr val="1F2937"/>
                </a:solidFill>
                <a:latin typeface="Calibri"/>
              </a:defRPr>
            </a:pPr>
            <a:r>
              <a:t>Driving mode config: temperature 0.1, max tokens 120, top-p 0.8.</a:t>
            </a:r>
          </a:p>
          <a:p>
            <a:pPr>
              <a:spcAft>
                <a:spcPts val="500"/>
              </a:spcAft>
              <a:defRPr sz="1450">
                <a:solidFill>
                  <a:srgbClr val="1F2937"/>
                </a:solidFill>
                <a:latin typeface="Calibri"/>
              </a:defRPr>
            </a:pPr>
            <a:r>
              <a:t>Parked mode config: temperature 0.3, max tokens 300, top-p 0.9.</a:t>
            </a:r>
          </a:p>
          <a:p>
            <a:pPr>
              <a:spcAft>
                <a:spcPts val="500"/>
              </a:spcAft>
              <a:defRPr sz="1450">
                <a:solidFill>
                  <a:srgbClr val="1F2937"/>
                </a:solidFill>
                <a:latin typeface="Calibri"/>
              </a:defRPr>
            </a:pPr>
            <a:r>
              <a:t>Message summarization: temperature 0.1, max tokens 80.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Runtime parameters are tuned for safety in motion and richer parked interactions.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13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Retrieval, Privacy, and Security Settings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Retrieval: domain-optimized embeddings, 300-500 token chunks, 10% overlap.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Top-k retrieval: 3-5 sources with relevance/policy confidence threshold.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PII masking before prompts (contacts, location traces, account identifiers).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Consent-gated personalization and redacted prompt/output logging.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Region-aware retention and deletion policies.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RAG and privacy controls reduce hallucination and data exposure risks.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14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Fine-Tuning and Data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Phase 1: no fine-tuning, use prompt engineering + policy templates + RAG.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Phase 2: create supervised dataset from anonymized interactions/corrections.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Phase 2: evaluate lightweight fine-tuning for style and intent robustness.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Phase 3: continuous evaluation and selective retraining for drift management.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Adopt a staged learning strategy to control risk and improve quality over 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15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Evaluation Framework and Operating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Offline metrics: groundedness, policy compliance, hallucination rate, brevity compliance.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Online metrics: task completion, satisfaction, safety interventions, fallback success.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Owners: Product, Conversation Safety, ML Platform, Data Governance, Operations.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Incident response ownership: Vehicle Digital Operations.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Clear metrics and ownership enable accountable, continuous improvement.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16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Risk Controls and Mitigations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Key risks: distraction, hallucinations, privacy leakage, harmful outputs, cost drift.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Confidence-based fallback to offline-safe templates.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Block/redirect high-risk prompts while driving.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Prompt-injection and unsafe-content detection controls.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Session token quotas and anomaly cost alerts.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Governance: monitoring dashboards and incident playbooks.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Multi-layer controls are embedded from prompt to operations.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17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Risk of Inaction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Product perception remains outdated vs AI-native competitors.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Reduced attractiveness in high-value AI-familiar segments.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Missed opportunity to build loyalty through differentiated digital experiences.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Not implementing LLM carries measurable strategic downside.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18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Roadmap and Milestones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Phase 1 (0-8 weeks): safety/privacy framework, core intents, internal pilot.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Phase 2 (8-16 weeks): personalization controls, resilience, quality/bias expansion.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Phase 3 (16-24 weeks): regional rollout, monitoring dashboards, incident runbooks.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Launch narrative: safe, privacy-first AI assistance.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Phased delivery balances speed with safety and quality maturity.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19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Success Metrics and KPI Targets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Core metrics: task success, satisfaction, time-to-complete, trust, violations, fallback success.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Pilot target: +30% voice task completion.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Pilot target: -20% time-to-complete common tasks.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Pilot target: +15-point satisfaction uplift among active users.</a:t>
            </a:r>
          </a:p>
          <a:p>
            <a:pPr>
              <a:spcAft>
                <a:spcPts val="5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Pilot target: &lt;1% critical safety/policy violation rate.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KPI targets tie product outcomes directly to launch success criteria.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Product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1" y="128016"/>
            <a:ext cx="1508760" cy="384048"/>
          </a:xfrm>
          <a:prstGeom prst="round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20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41248"/>
            <a:ext cx="11247120" cy="5285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1E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051560"/>
            <a:ext cx="73152" cy="4498848"/>
          </a:xfrm>
          <a:prstGeom prst="rect">
            <a:avLst/>
          </a:prstGeom>
          <a:solidFill>
            <a:srgbClr val="0B8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024128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12E4E"/>
                </a:solidFill>
                <a:latin typeface="Calibri"/>
              </a:defRPr>
            </a:pPr>
            <a:r>
              <a:t>Ask and 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1024128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Approve pilot scope, budget, and target geography.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Confirm legal/privacy guardrails and governance responsibilities.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Execute phase-1 pilot with explicit go/no-go decision gates.</a:t>
            </a:r>
          </a:p>
          <a:p>
            <a:pPr>
              <a:spcAft>
                <a:spcPts val="5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Prepare scale plan based on pilot KPI outcomes.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58384"/>
            <a:ext cx="10698480" cy="512064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64E3B"/>
                </a:solidFill>
                <a:latin typeface="Calibri"/>
              </a:defRPr>
            </a:pPr>
            <a:r>
              <a:t>Key Takeaway: Decision request: approve pilot and governance to begin execution.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Created By : ZIA UL MUSTAFA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